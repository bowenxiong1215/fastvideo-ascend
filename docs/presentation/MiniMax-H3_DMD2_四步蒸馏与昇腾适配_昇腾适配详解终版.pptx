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这次分享从步数蒸馏的基本问题开始，再依次解释 DMD、DMD2、MiniMax-H3 上的四步训练，以及昇腾九一零B的工程闭环。最终希望大家能够完整复述四步 Student 怎样训练、怎样保存、怎样导出，以及怎样完成严格四步推理。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扩散或 Flow 模型通过多次模型前向逐渐把噪声状态变成目标样本。步数蒸馏训练一个 Student，让它用更少的大跨度更新完成相同生成任务。被压缩的是反复执行的推理过程，不是参数量；因此它不同于量化、剪枝和普通 LoRA，也不是简单修改 scheduler 的采样步数。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视频模型的一次前向本身就很重，而完整生成又要重复执行很多次，所以端到端等待会随采样步数累积。MiniMax-H3 还要联合处理视频与立体声音频，单次前向涉及更长的联合序列。步数蒸馏允许模型规模保持不变，同时减少 Transformer 的调用次数。接下来的关键问题是，为什么不能直接让原模型只跑四步。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原模型通常在连续的小跨度更新中工作，直接抽取四个时间点会要求每一步跨越更大的状态距离。更重要的是，Student 下一步的输入来自自己上一轮的输出，前一步的偏差会进入后一步并继续累积。因此四步生成需要重新训练模型，而且训练必须覆盖 Student 自己真正会遇到的中间状态。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普通回归蒸馏要求 Student 在同一个输入上贴近 Teacher 的逐样本输出。DMD 改变了目标：Student 可以走自己的轨迹，但它产生的整体分布需要向真实数据分布移动。这种目标不要求 Student 复制 Teacher 的每个中间点，更适合四步 Student 与 Teacher 轨迹不同的情况。接下来需要解决的是，怎样得到分布应该移动的方向。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这里的 score 不是质量评分，而是 noisy sample 在当前噪声等级下应该向哪里移动。Teacher 冻结，近似真实数据分布并提供 real score；Critic 可训练，描述 Student 当前生成分布并提供 fake score；Student 负责生成四步轨迹并最终导出。两个 score 在同一个 noisy sample 上的差值，为 Student 提供更新方向。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DMD 不是一次单向蒸馏，而是两个交替阶段。Student 阶段先生成样本并加噪，Teacher 和 Critic 分别给出真实分布与当前生成分布的方向，二者差值只更新 Student。Critic 阶段把 Student 样本作为训练数据，让 Critic 持续学习当前 fake distribution。Critic 描述 Student 现在在哪里，Teacher告诉 Student 真实分布在哪里。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更新 Student 时，Teacher 与 Critic 只提供方向，它们的分支停止梯度，score 差最终只反传到 Student。更新 Critic 时，Student 样本先被 detach，再加噪形成 flow 监督，视频和音频的均方误差只更新 Critic。两种更新共享 Student 生成样本，但反向传播的参数集合完全不同。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DMD2 针对 DMD 的几个限制组合改造。它可以去掉回归式初始化，通过双时间尺度让 Critic 更及时地跟上 Student，用真实数据 GAN 分支增加真实样本附近的局部信号，并用 backward simulation 解决多步 Student 的状态错位。对于 H3 四步蒸馏，最关键的是 backward simulation，其次是 Critic 与 Student 的更新节奏。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训练时从四个位置中随机选择一个 target index。以五百为目标时，Student 先在 no grad 下运行九百九十九和七百四十九，用自己的输出构造真实会遇到的中间状态；五百对应的最后一步保留计算图并执行反向传播，二百五十本次不执行。不同训练 step 会轮流覆盖四个位置。这样既在 Student 自身轨迹上训练，又不必为完整前缀保存梯度。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MiniMax-H3 不只生成视频。文本、图像或视频条件先由 Qwen三视觉语言三十二B编码，Packing 再把条件、视频 latent、音频 latent、位置、时间和 mask 组织成联合序列。三十三B Dense H3 Omni Transformer 一次前向同时返回视频与立体声音频预测。Student、Teacher 和 Critic 都必须保留这套联合结构。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一次训练迭代包含 Critic phase 和 Student phase。Critic phase 从 Student 四步 rollout 得到联合样本，对 Student 停止梯度，再分别给视频和音频加噪，通过两类均方误差更新 Critic。Student phase 使用随机前缀 rollout，只保留目标步骤梯度；同一个基础 timestep 分别经过 video shift 十二和 audio shift 三，再比较 Teacher real score 与 Critic fake score，视频与音频 DMD loss 相加后更新 Student。验收时要确认两个 phase 都得到有限 loss、完成反向传播，并执行对应的 optimizer step。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四步时间表定义 Student rollout 和严格推理使用的四个位置；最小与最大 timestep ratio 控制 score 比较时的噪声采样范围，两者不是同一类参数。generator update interval 控制 Student 相对 Critic 的更新频率。Student 与 Critic 学习率应分别观察，因为一个影响生成器，一个影响 fake score 估计器。参数调整时同时观察 loss、梯度范数和生成样本，避免只根据单个数值判断训练状态。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昇腾适配对应五个具体阻塞点。我们把 CUDA 硬编码改成统一平台接口，补齐 NPU 八卡启动、HCCL 和 sequence parallel，再通过 CPU staging 直接形成 FSDP2 分片，避免完整权重先落到单卡。Qwen3-VL 的混合参数 dtype 从加载阶段统一为 BF16，并将同一 dtype contract 带入导出模型。最后补齐 DCP 导出、重载校验和 strict 四步入口，让独立 Student 真正完成四次 Transformer forward。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整套交付链从权重和数据验收开始，经过 Dense SFT 单步验收、DMD2 三角色训练、DCP checkpoint 保存、独立 Student 导出，最后进入严格四步推理。训练侧可以确认两个 optimizer 真正更新，产物侧可以重新加载导出模型，推理侧可以确认只执行四次 H3 Transformer forward 并同时生成视频和立体声音频。最终形成的能力，是在八张昇腾九一零B上从 Base H3 训练并交付一个可独立推理的 Dense 四步 Student。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md2_h3_logic_rebuil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md2_h3_logic_rebuil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12.xml"/>
</Relationships>
</file>

<file path=ppt/slides/_rels/slide1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13.xml"/>
</Relationships>
</file>

<file path=ppt/slides/_rels/slide1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14.xml"/>
</Relationships>
</file>

<file path=ppt/slides/_rels/slide1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209550" cy="6858000"/>
            <a:chOff x="0" y="0"/>
            <a:chExt cx="20955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20955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679704" y="632460"/>
            <a:ext cx="4446666" cy="234696"/>
            <a:chOff x="679704" y="632460"/>
            <a:chExt cx="4446666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679704" y="632460"/>
              <a:ext cx="4446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GENERATIVE VIDEO · DISTRIBUTION MATCHING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0560" y="1428750"/>
            <a:ext cx="5915292" cy="1177290"/>
            <a:chOff x="670560" y="1428750"/>
            <a:chExt cx="5915292" cy="117729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428750"/>
              <a:ext cx="59152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MiniMax-H3 的 DMD2 四步蒸馏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0560" y="201930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与昇腾训练适配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8180" y="3143250"/>
            <a:ext cx="7227570" cy="762381"/>
            <a:chOff x="678180" y="3143250"/>
            <a:chExt cx="7227570" cy="762381"/>
          </a:xfrm>
        </p:grpSpPr>
        <p:sp>
          <p:nvSpPr>
            <p:cNvPr id="9" name="Line 9"/>
            <p:cNvSpPr/>
            <p:nvPr/>
          </p:nvSpPr>
          <p:spPr>
            <a:xfrm>
              <a:off x="685800" y="3143250"/>
              <a:ext cx="7219950" cy="9525"/>
            </a:xfrm>
            <a:custGeom>
              <a:avLst/>
              <a:gdLst/>
              <a:ahLst/>
              <a:cxnLst/>
              <a:rect l="l" t="t" r="r" b="b"/>
              <a:pathLst>
                <a:path w="7219950" h="9525">
                  <a:moveTo>
                    <a:pt x="0" y="0"/>
                  </a:moveTo>
                  <a:lnTo>
                    <a:pt x="72199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8180" y="3314700"/>
              <a:ext cx="53909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Dense 路线 · 视频与立体声音频联合训练 · 8×Ascend 910B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9704" y="3670935"/>
              <a:ext cx="4849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目标：训练 → 导出 Student → 严格四次 H3 Transformer forward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00216" y="4744402"/>
            <a:ext cx="4748784" cy="1147382"/>
            <a:chOff x="6300216" y="4744402"/>
            <a:chExt cx="4748784" cy="1147382"/>
          </a:xfrm>
        </p:grpSpPr>
        <p:sp>
          <p:nvSpPr>
            <p:cNvPr id="13" name="TextBox 13"/>
            <p:cNvSpPr txBox="1"/>
            <p:nvPr/>
          </p:nvSpPr>
          <p:spPr>
            <a:xfrm>
              <a:off x="6300216" y="4744402"/>
              <a:ext cx="1947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FOUR-STEP DENOISING GRID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496050" y="5314950"/>
              <a:ext cx="4552950" cy="9525"/>
            </a:xfrm>
            <a:custGeom>
              <a:avLst/>
              <a:gdLst/>
              <a:ahLst/>
              <a:cxnLst/>
              <a:rect l="l" t="t" r="r" b="b"/>
              <a:pathLst>
                <a:path w="4552950" h="9525">
                  <a:moveTo>
                    <a:pt x="0" y="0"/>
                  </a:moveTo>
                  <a:lnTo>
                    <a:pt x="455295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906125" y="5238750"/>
              <a:ext cx="142875" cy="76200"/>
            </a:xfrm>
            <a:custGeom>
              <a:avLst/>
              <a:gdLst/>
              <a:ahLst/>
              <a:cxnLst/>
              <a:rect l="l" t="t" r="r" b="b"/>
              <a:pathLst>
                <a:path w="142875" h="76200">
                  <a:moveTo>
                    <a:pt x="142875" y="762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906125" y="5314950"/>
              <a:ext cx="142875" cy="76200"/>
            </a:xfrm>
            <a:custGeom>
              <a:avLst/>
              <a:gdLst/>
              <a:ahLst/>
              <a:cxnLst/>
              <a:rect l="l" t="t" r="r" b="b"/>
              <a:pathLst>
                <a:path w="142875" h="76200">
                  <a:moveTo>
                    <a:pt x="142875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648450" y="52197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001000" y="52197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353550" y="52197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706100" y="52197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15481" y="553974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999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68031" y="553974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749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220581" y="553974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500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73131" y="553974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250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80466" y="6477952"/>
            <a:ext cx="10738904" cy="205359"/>
            <a:chOff x="680466" y="6477952"/>
            <a:chExt cx="10738904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680466" y="6477952"/>
              <a:ext cx="23554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技术机制 · H3 实现 · 昇腾工程闭环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53216" y="64779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2857500" cy="804862"/>
            <a:chOff x="518160" y="296228"/>
            <a:chExt cx="2857500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步数蒸馏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什么是步数蒸馏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7304" y="1299210"/>
            <a:ext cx="10521696" cy="1848041"/>
            <a:chOff x="527304" y="1299210"/>
            <a:chExt cx="10521696" cy="1848041"/>
          </a:xfrm>
        </p:grpSpPr>
        <p:sp>
          <p:nvSpPr>
            <p:cNvPr id="6" name="TextBox 6"/>
            <p:cNvSpPr txBox="1"/>
            <p:nvPr/>
          </p:nvSpPr>
          <p:spPr>
            <a:xfrm>
              <a:off x="527304" y="1299210"/>
              <a:ext cx="2787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Teacher：用很多小跨度更新逐渐去噪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2095500" y="1809750"/>
              <a:ext cx="8953500" cy="9525"/>
            </a:xfrm>
            <a:custGeom>
              <a:avLst/>
              <a:gdLst/>
              <a:ahLst/>
              <a:cxnLst/>
              <a:rect l="l" t="t" r="r" b="b"/>
              <a:pathLst>
                <a:path w="8953500" h="9525">
                  <a:moveTo>
                    <a:pt x="0" y="0"/>
                  </a:moveTo>
                  <a:lnTo>
                    <a:pt x="89535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21932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307657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393382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479107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64832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50557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36282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22007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07732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93457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791825" y="1743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7304" y="2232660"/>
              <a:ext cx="37646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Student：学习用四个大跨度更新完成同一生成任务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286000" y="272415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181225" y="26193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038725" y="26193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7896225" y="26193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753725" y="26193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050542" y="288321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999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08042" y="288321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749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65542" y="288321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500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23042" y="288321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250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27304" y="3470910"/>
            <a:ext cx="11131296" cy="2253615"/>
            <a:chOff x="527304" y="3470910"/>
            <a:chExt cx="11131296" cy="2253615"/>
          </a:xfrm>
        </p:grpSpPr>
        <p:sp>
          <p:nvSpPr>
            <p:cNvPr id="30" name="TextBox 30"/>
            <p:cNvSpPr txBox="1"/>
            <p:nvPr/>
          </p:nvSpPr>
          <p:spPr>
            <a:xfrm>
              <a:off x="527304" y="34709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被压缩的对象：重复执行的去噪过程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867150"/>
              <a:ext cx="2266950" cy="1104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6280" y="40100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输入状态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7042" y="4350068"/>
              <a:ext cx="1331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noisy latent xₜ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804" y="4652010"/>
              <a:ext cx="1498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timestep t + 条件 c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2800350" y="441960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3200400" y="4343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333750" y="3867150"/>
              <a:ext cx="2857500" cy="1104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535680" y="4029075"/>
              <a:ext cx="25747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H3 Transformer forward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36442" y="4388168"/>
              <a:ext cx="1803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预测 velocity / noise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37204" y="46710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视频与音频联合输出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191250" y="441960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6591300" y="4343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24650" y="3867150"/>
              <a:ext cx="2152650" cy="11049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26580" y="4029075"/>
              <a:ext cx="1018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Scheduler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27342" y="4388168"/>
              <a:ext cx="12658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 Δt 更新状态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28104" y="467106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数值积分 / 映射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8877300" y="441960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9277350" y="43434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410700" y="3867150"/>
              <a:ext cx="2247900" cy="1104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612630" y="40290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下一状态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13392" y="43881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xₜ₋₁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14154" y="4671060"/>
              <a:ext cx="1522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进入下一次 forward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5238750"/>
              <a:ext cx="11125200" cy="48577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6280" y="5391150"/>
              <a:ext cx="7686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步数蒸馏压缩推理过程，不等于量化、剪枝、普通 LoRA，也不等于只改 scheduler。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56" name="TextBox 56"/>
            <p:cNvSpPr txBox="1"/>
            <p:nvPr/>
          </p:nvSpPr>
          <p:spPr>
            <a:xfrm>
              <a:off x="528066" y="6468428"/>
              <a:ext cx="30214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一步 = 1 次模型前向 + 1 次 scheduler 状态推进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3665220" cy="804862"/>
            <a:chOff x="518160" y="296228"/>
            <a:chExt cx="3665220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步数蒸馏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36652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为什么需要步数蒸馏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7304" y="1508760"/>
            <a:ext cx="11131296" cy="1520190"/>
            <a:chOff x="527304" y="1508760"/>
            <a:chExt cx="11131296" cy="1520190"/>
          </a:xfrm>
        </p:grpSpPr>
        <p:sp>
          <p:nvSpPr>
            <p:cNvPr id="6" name="TextBox 6"/>
            <p:cNvSpPr txBox="1"/>
            <p:nvPr/>
          </p:nvSpPr>
          <p:spPr>
            <a:xfrm>
              <a:off x="527304" y="15087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推理成本来自同一个大模型被反复调用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1924050"/>
              <a:ext cx="2571750" cy="1104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4380" y="21050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单次模型前向很重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904" y="24612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参数、联合序列、注意力计算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904" y="2727960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共同决定一次 forward 成本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77946" y="22964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905250" y="1924050"/>
              <a:ext cx="2571750" cy="1104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126230" y="21050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去噪要重复很多次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27754" y="2461260"/>
              <a:ext cx="2374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每一步都再次执行 Transformer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27754" y="27279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总成本随采样步数累积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49796" y="22964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277100" y="1924050"/>
              <a:ext cx="4381500" cy="1104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16368" y="20888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视频生成的端到端等待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7892" y="24641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模型越大、序列越长、步数越多，推理越重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8654" y="2747010"/>
              <a:ext cx="28114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H3 还需要联合处理视频与立体声音频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6542" y="3695700"/>
            <a:ext cx="11132058" cy="1712595"/>
            <a:chOff x="526542" y="3695700"/>
            <a:chExt cx="11132058" cy="1712595"/>
          </a:xfrm>
        </p:grpSpPr>
        <p:sp>
          <p:nvSpPr>
            <p:cNvPr id="22" name="Line 22"/>
            <p:cNvSpPr/>
            <p:nvPr/>
          </p:nvSpPr>
          <p:spPr>
            <a:xfrm>
              <a:off x="533400" y="36957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542" y="389286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步数蒸馏的价值：模型规模可以不变，但调用次数减少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6542" y="4388168"/>
              <a:ext cx="1140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多步 Teacher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2000250" y="44767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9050">
              <a:solidFill>
                <a:srgbClr val="626B7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219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981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743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4505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267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029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791325" y="4410075"/>
              <a:ext cx="133350" cy="1333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6542" y="4959668"/>
              <a:ext cx="117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四步 Student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000250" y="50482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2181225" y="49434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705225" y="49434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5229225" y="49434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753225" y="49434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10906" y="4415790"/>
              <a:ext cx="193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目标不是缩小 H3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12430" y="4848225"/>
              <a:ext cx="2451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而是减少 H3 Transformer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12430" y="51149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被重复执行的次数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33400" y="5638800"/>
            <a:ext cx="11125200" cy="552450"/>
            <a:chOff x="533400" y="5638800"/>
            <a:chExt cx="11125200" cy="552450"/>
          </a:xfrm>
        </p:grpSpPr>
        <p:sp>
          <p:nvSpPr>
            <p:cNvPr id="43" name="Rectangle 43"/>
            <p:cNvSpPr/>
            <p:nvPr/>
          </p:nvSpPr>
          <p:spPr>
            <a:xfrm>
              <a:off x="533400" y="5638800"/>
              <a:ext cx="11125200" cy="552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4380" y="581977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下一个问题：既然四步更快，为什么不让原模型直接只跑四步？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6" name="TextBox 46"/>
            <p:cNvSpPr txBox="1"/>
            <p:nvPr/>
          </p:nvSpPr>
          <p:spPr>
            <a:xfrm>
              <a:off x="528066" y="646842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先建立需求，再讨论训练方法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5684520" cy="804862"/>
            <a:chOff x="518160" y="296228"/>
            <a:chExt cx="5684520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步数蒸馏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为什么不能直接把采样改成四步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6542" y="1397318"/>
            <a:ext cx="10522458" cy="869632"/>
            <a:chOff x="526542" y="1397318"/>
            <a:chExt cx="10522458" cy="869632"/>
          </a:xfrm>
        </p:grpSpPr>
        <p:sp>
          <p:nvSpPr>
            <p:cNvPr id="6" name="TextBox 6"/>
            <p:cNvSpPr txBox="1"/>
            <p:nvPr/>
          </p:nvSpPr>
          <p:spPr>
            <a:xfrm>
              <a:off x="526542" y="1397318"/>
              <a:ext cx="1544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Teacher 小步轨迹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7304" y="16802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每个输入状态都接近训练时见过的分布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067050" y="1943100"/>
              <a:ext cx="7981950" cy="9525"/>
            </a:xfrm>
            <a:custGeom>
              <a:avLst/>
              <a:gdLst/>
              <a:ahLst/>
              <a:cxnLst/>
              <a:rect l="l" t="t" r="r" b="b"/>
              <a:pathLst>
                <a:path w="7981950" h="9525">
                  <a:moveTo>
                    <a:pt x="0" y="0"/>
                  </a:moveTo>
                  <a:lnTo>
                    <a:pt x="7981950" y="0"/>
                  </a:lnTo>
                </a:path>
              </a:pathLst>
            </a:custGeom>
            <a:noFill/>
            <a:ln w="19050">
              <a:solidFill>
                <a:srgbClr val="626B73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3152775" y="1857375"/>
              <a:ext cx="171450" cy="17145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3971925" y="1781175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4781550" y="1733550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591175" y="1714500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400800" y="1771650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210425" y="1924050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020050" y="2066925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8829675" y="2114550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639300" y="2066925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448925" y="1924050"/>
              <a:ext cx="152400" cy="152400"/>
            </a:xfrm>
            <a:prstGeom prst="ellipse">
              <a:avLst/>
            </a:prstGeom>
            <a:solidFill>
              <a:srgbClr val="626B73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3238500" y="1790700"/>
              <a:ext cx="7286625" cy="400050"/>
            </a:xfrm>
            <a:custGeom>
              <a:avLst/>
              <a:gdLst/>
              <a:ahLst/>
              <a:cxnLst/>
              <a:rect l="l" t="t" r="r" b="b"/>
              <a:pathLst>
                <a:path w="7286625" h="400050">
                  <a:moveTo>
                    <a:pt x="0" y="152400"/>
                  </a:moveTo>
                  <a:lnTo>
                    <a:pt x="809625" y="66675"/>
                  </a:lnTo>
                  <a:lnTo>
                    <a:pt x="1619250" y="19050"/>
                  </a:lnTo>
                  <a:lnTo>
                    <a:pt x="2428875" y="0"/>
                  </a:lnTo>
                  <a:lnTo>
                    <a:pt x="3238500" y="57150"/>
                  </a:lnTo>
                  <a:lnTo>
                    <a:pt x="4048125" y="209550"/>
                  </a:lnTo>
                  <a:lnTo>
                    <a:pt x="4857750" y="352425"/>
                  </a:lnTo>
                  <a:lnTo>
                    <a:pt x="5667375" y="400050"/>
                  </a:lnTo>
                  <a:lnTo>
                    <a:pt x="6477000" y="352425"/>
                  </a:lnTo>
                  <a:lnTo>
                    <a:pt x="7286625" y="209550"/>
                  </a:lnTo>
                </a:path>
              </a:pathLst>
            </a:custGeom>
            <a:noFill/>
            <a:ln w="19050">
              <a:solidFill>
                <a:srgbClr val="626B73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526542" y="1790700"/>
            <a:ext cx="10183368" cy="3352800"/>
            <a:chOff x="526542" y="1790700"/>
            <a:chExt cx="10183368" cy="3352800"/>
          </a:xfrm>
        </p:grpSpPr>
        <p:sp>
          <p:nvSpPr>
            <p:cNvPr id="21" name="TextBox 21"/>
            <p:cNvSpPr txBox="1"/>
            <p:nvPr/>
          </p:nvSpPr>
          <p:spPr>
            <a:xfrm>
              <a:off x="526542" y="3111818"/>
              <a:ext cx="19689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直接四步 Student 轨迹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7304" y="3394710"/>
              <a:ext cx="29846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k 步的输出，就是第 k+1 步的真实输入</a:t>
              </a:r>
            </a:p>
          </p:txBody>
        </p:sp>
        <p:sp>
          <p:nvSpPr>
            <p:cNvPr id="23" name="Polyline 23"/>
            <p:cNvSpPr/>
            <p:nvPr/>
          </p:nvSpPr>
          <p:spPr>
            <a:xfrm>
              <a:off x="3238500" y="3829050"/>
              <a:ext cx="7286625" cy="1200150"/>
            </a:xfrm>
            <a:custGeom>
              <a:avLst/>
              <a:gdLst/>
              <a:ahLst/>
              <a:cxnLst/>
              <a:rect l="l" t="t" r="r" b="b"/>
              <a:pathLst>
                <a:path w="7286625" h="1200150">
                  <a:moveTo>
                    <a:pt x="0" y="0"/>
                  </a:moveTo>
                  <a:lnTo>
                    <a:pt x="2428875" y="247650"/>
                  </a:lnTo>
                  <a:lnTo>
                    <a:pt x="4857750" y="666750"/>
                  </a:lnTo>
                  <a:lnTo>
                    <a:pt x="7286625" y="120015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124200" y="37147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553075" y="39624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7981950" y="43815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410825" y="49149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5667375" y="17907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00000" sp="300000"/>
              </a:custDash>
            </a:ln>
          </p:spPr>
        </p:sp>
        <p:sp>
          <p:nvSpPr>
            <p:cNvPr id="29" name="Line 29"/>
            <p:cNvSpPr/>
            <p:nvPr/>
          </p:nvSpPr>
          <p:spPr>
            <a:xfrm>
              <a:off x="8096250" y="2143125"/>
              <a:ext cx="9525" cy="2352675"/>
            </a:xfrm>
            <a:custGeom>
              <a:avLst/>
              <a:gdLst/>
              <a:ahLst/>
              <a:cxnLst/>
              <a:rect l="l" t="t" r="r" b="b"/>
              <a:pathLst>
                <a:path w="9525" h="2352675">
                  <a:moveTo>
                    <a:pt x="0" y="0"/>
                  </a:moveTo>
                  <a:lnTo>
                    <a:pt x="0" y="2352675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00000" sp="300000"/>
              </a:custDash>
            </a:ln>
          </p:spPr>
        </p:sp>
        <p:sp>
          <p:nvSpPr>
            <p:cNvPr id="30" name="Line 30"/>
            <p:cNvSpPr/>
            <p:nvPr/>
          </p:nvSpPr>
          <p:spPr>
            <a:xfrm>
              <a:off x="10525125" y="2000250"/>
              <a:ext cx="9525" cy="3028950"/>
            </a:xfrm>
            <a:custGeom>
              <a:avLst/>
              <a:gdLst/>
              <a:ahLst/>
              <a:cxnLst/>
              <a:rect l="l" t="t" r="r" b="b"/>
              <a:pathLst>
                <a:path w="9525" h="3028950">
                  <a:moveTo>
                    <a:pt x="0" y="0"/>
                  </a:moveTo>
                  <a:lnTo>
                    <a:pt x="0" y="30289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00000" sp="300000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23204" y="2804160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偏差 δ₁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42554" y="3147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δ₁ + δ₂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28454" y="35375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误差继续传播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5467350"/>
            <a:ext cx="11125200" cy="666750"/>
            <a:chOff x="533400" y="5467350"/>
            <a:chExt cx="11125200" cy="666750"/>
          </a:xfrm>
        </p:grpSpPr>
        <p:sp>
          <p:nvSpPr>
            <p:cNvPr id="35" name="Rectangle 35"/>
            <p:cNvSpPr/>
            <p:nvPr/>
          </p:nvSpPr>
          <p:spPr>
            <a:xfrm>
              <a:off x="533400" y="5467350"/>
              <a:ext cx="11125200" cy="666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5467350"/>
              <a:ext cx="76200" cy="666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3430" y="5591175"/>
              <a:ext cx="34091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训练分布必须跟随 Student 自身轨迹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954" y="5890260"/>
              <a:ext cx="7324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蒸馏不是复制 Teacher 的四个采样点，而是在 Student 会实际遇到的中间状态上重建正确更新方向。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528066" y="6468428"/>
              <a:ext cx="3166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Student 必须在自己真正会遇到的中间状态上学习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6406744" cy="804862"/>
            <a:chOff x="518160" y="296228"/>
            <a:chExt cx="6406744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2980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DMD 分布匹配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640674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DMD：从逐样本模仿转向分布匹配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6542" y="1492568"/>
            <a:ext cx="4959858" cy="3308032"/>
            <a:chOff x="526542" y="1492568"/>
            <a:chExt cx="4959858" cy="3308032"/>
          </a:xfrm>
        </p:grpSpPr>
        <p:sp>
          <p:nvSpPr>
            <p:cNvPr id="6" name="TextBox 6"/>
            <p:cNvSpPr txBox="1"/>
            <p:nvPr/>
          </p:nvSpPr>
          <p:spPr>
            <a:xfrm>
              <a:off x="526542" y="1492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普通回归蒸馏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1885950"/>
              <a:ext cx="4953000" cy="2914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38200" y="2209800"/>
              <a:ext cx="1447800" cy="6286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8992" y="24450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同一个输入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286000" y="25241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2686050" y="24479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819400" y="2114550"/>
              <a:ext cx="2247900" cy="8191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40380" y="2276475"/>
              <a:ext cx="1601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Teacher target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41904" y="25946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逐样本输出作为监督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562100" y="2838450"/>
              <a:ext cx="9525" cy="590550"/>
            </a:xfrm>
            <a:custGeom>
              <a:avLst/>
              <a:gdLst/>
              <a:ahLst/>
              <a:cxnLst/>
              <a:rect l="l" t="t" r="r" b="b"/>
              <a:pathLst>
                <a:path w="9525"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38200" y="3429000"/>
              <a:ext cx="4229100" cy="7810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9180" y="3590925"/>
              <a:ext cx="3074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Student 输出贴近 Teacher 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0704" y="39090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强调一一对应的样本目标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104" y="44424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适合轨迹和目标可以可靠配对的场景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12942" y="1492568"/>
            <a:ext cx="5645658" cy="3308032"/>
            <a:chOff x="6012942" y="1492568"/>
            <a:chExt cx="5645658" cy="3308032"/>
          </a:xfrm>
        </p:grpSpPr>
        <p:sp>
          <p:nvSpPr>
            <p:cNvPr id="21" name="TextBox 21"/>
            <p:cNvSpPr txBox="1"/>
            <p:nvPr/>
          </p:nvSpPr>
          <p:spPr>
            <a:xfrm>
              <a:off x="6012942" y="1492568"/>
              <a:ext cx="3111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Distribution Matching Distillation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019800" y="1885950"/>
              <a:ext cx="5638800" cy="29146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029450" y="26289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448550" y="30099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838950" y="33909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7715250" y="36195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182100" y="2495550"/>
              <a:ext cx="1790700" cy="13716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696450" y="29337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210800" y="32575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9829800" y="3486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7905750" y="32194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8877300" y="3124200"/>
              <a:ext cx="171450" cy="190500"/>
            </a:xfrm>
            <a:custGeom>
              <a:avLst/>
              <a:gdLst/>
              <a:ahLst/>
              <a:cxnLst/>
              <a:rect l="l" t="t" r="r" b="b"/>
              <a:pathLst>
                <a:path w="171450" h="190500">
                  <a:moveTo>
                    <a:pt x="17145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08242" y="2159318"/>
              <a:ext cx="1544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Student 当前分布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46692" y="21593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真实数据分布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71104" y="28232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整体移动方向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74130" y="4181475"/>
              <a:ext cx="259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允许 Student 走自己的轨迹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5654" y="44805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目标是让生成分布逐渐接近真实分布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5780" y="5238750"/>
            <a:ext cx="11132820" cy="785051"/>
            <a:chOff x="525780" y="5238750"/>
            <a:chExt cx="11132820" cy="785051"/>
          </a:xfrm>
        </p:grpSpPr>
        <p:sp>
          <p:nvSpPr>
            <p:cNvPr id="39" name="Line 39"/>
            <p:cNvSpPr/>
            <p:nvPr/>
          </p:nvSpPr>
          <p:spPr>
            <a:xfrm>
              <a:off x="533400" y="52387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5780" y="5438775"/>
              <a:ext cx="23272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为什么适合四步 Student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6542" y="5759768"/>
              <a:ext cx="70854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Student 不必复刻 Teacher 的每个中间点，只需学习让自身生成分布向真实分布移动。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528066" y="6468428"/>
              <a:ext cx="36371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下一页回答：怎样知道 Student 的分布应该向哪里移动？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7179357" cy="804862"/>
            <a:chOff x="518160" y="296228"/>
            <a:chExt cx="7179357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2980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DMD 分布匹配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71793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 与 Student、Teacher、Critic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6542" y="1378268"/>
            <a:ext cx="4197858" cy="4289488"/>
            <a:chOff x="526542" y="1378268"/>
            <a:chExt cx="4197858" cy="4289488"/>
          </a:xfrm>
        </p:grpSpPr>
        <p:sp>
          <p:nvSpPr>
            <p:cNvPr id="6" name="TextBox 6"/>
            <p:cNvSpPr txBox="1"/>
            <p:nvPr/>
          </p:nvSpPr>
          <p:spPr>
            <a:xfrm>
              <a:off x="526542" y="1378268"/>
              <a:ext cx="3301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Score：同一噪声等级下的局部移动方向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1752600"/>
              <a:ext cx="4191000" cy="32004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323975" y="246697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885950" y="214312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495550" y="252412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228975" y="225742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3876675" y="267652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590675" y="364807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295525" y="404812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3124200" y="372427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962400" y="4105275"/>
              <a:ext cx="133350" cy="1333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790700" y="2590800"/>
              <a:ext cx="1866900" cy="12954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390650" y="2533650"/>
              <a:ext cx="628650" cy="352425"/>
            </a:xfrm>
            <a:custGeom>
              <a:avLst/>
              <a:gdLst/>
              <a:ahLst/>
              <a:cxnLst/>
              <a:rect l="l" t="t" r="r" b="b"/>
              <a:pathLst>
                <a:path w="628650" h="352425">
                  <a:moveTo>
                    <a:pt x="0" y="0"/>
                  </a:moveTo>
                  <a:lnTo>
                    <a:pt x="628650" y="3524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1876425" y="2762250"/>
              <a:ext cx="142875" cy="123825"/>
            </a:xfrm>
            <a:custGeom>
              <a:avLst/>
              <a:gdLst/>
              <a:ahLst/>
              <a:cxnLst/>
              <a:rect l="l" t="t" r="r" b="b"/>
              <a:pathLst>
                <a:path w="142875" h="123825">
                  <a:moveTo>
                    <a:pt x="142875" y="123825"/>
                  </a:moveTo>
                  <a:lnTo>
                    <a:pt x="0" y="1238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3381375" y="2743200"/>
              <a:ext cx="561975" cy="266700"/>
            </a:xfrm>
            <a:custGeom>
              <a:avLst/>
              <a:gdLst/>
              <a:ahLst/>
              <a:cxnLst/>
              <a:rect l="l" t="t" r="r" b="b"/>
              <a:pathLst>
                <a:path w="561975" h="266700">
                  <a:moveTo>
                    <a:pt x="561975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3381375" y="2886075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0" y="123825"/>
                  </a:moveTo>
                  <a:lnTo>
                    <a:pt x="85725" y="0"/>
                  </a:lnTo>
                  <a:lnTo>
                    <a:pt x="15240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1657350" y="3495675"/>
              <a:ext cx="447675" cy="219075"/>
            </a:xfrm>
            <a:custGeom>
              <a:avLst/>
              <a:gdLst/>
              <a:ahLst/>
              <a:cxnLst/>
              <a:rect l="l" t="t" r="r" b="b"/>
              <a:pathLst>
                <a:path w="447675" h="219075">
                  <a:moveTo>
                    <a:pt x="0" y="219075"/>
                  </a:moveTo>
                  <a:lnTo>
                    <a:pt x="447675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952625" y="34861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152400" y="9525"/>
                  </a:moveTo>
                  <a:lnTo>
                    <a:pt x="57150" y="133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3476625" y="3705225"/>
              <a:ext cx="552450" cy="466725"/>
            </a:xfrm>
            <a:custGeom>
              <a:avLst/>
              <a:gdLst/>
              <a:ahLst/>
              <a:cxnLst/>
              <a:rect l="l" t="t" r="r" b="b"/>
              <a:pathLst>
                <a:path w="552450" h="466725">
                  <a:moveTo>
                    <a:pt x="552450" y="4667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3476625" y="3705225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0" y="0"/>
                  </a:moveTo>
                  <a:lnTo>
                    <a:pt x="142875" y="47625"/>
                  </a:lnTo>
                  <a:lnTo>
                    <a:pt x="5715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4192" y="5131118"/>
              <a:ext cx="1485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它不是“审美分数”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954" y="54330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而是噪声状态向目标分布移动的向量场。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135880" y="1314450"/>
            <a:ext cx="6522720" cy="4499801"/>
            <a:chOff x="5135880" y="1314450"/>
            <a:chExt cx="6522720" cy="4499801"/>
          </a:xfrm>
        </p:grpSpPr>
        <p:sp>
          <p:nvSpPr>
            <p:cNvPr id="29" name="Rectangle 29"/>
            <p:cNvSpPr/>
            <p:nvPr/>
          </p:nvSpPr>
          <p:spPr>
            <a:xfrm>
              <a:off x="5143500" y="1314450"/>
              <a:ext cx="6515100" cy="1104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01056" y="14820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03342" y="185451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可训练 · 生成四步轨迹 · 最终导出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18904" y="18707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接受 score 差值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143500" y="2609850"/>
              <a:ext cx="6515100" cy="1104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01056" y="27774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Teacher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03342" y="31499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冻结 · 近似真实数据分布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57004" y="31661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 score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143500" y="3905250"/>
              <a:ext cx="6515100" cy="11049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401056" y="4072890"/>
              <a:ext cx="7374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03342" y="4445318"/>
              <a:ext cx="2688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可训练 · 追踪 Student 当前分布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557004" y="44615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fake score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35880" y="5267325"/>
              <a:ext cx="1563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DMD 的核心比较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136642" y="5550218"/>
              <a:ext cx="5535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同一个 noisy sample 上：Critic fake score − Teacher real score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528066" y="6468428"/>
              <a:ext cx="47718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Teacher 负责真实方向，Critic 描述当前生成分布，Student 接受二者差值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6541160" cy="804862"/>
            <a:chOff x="518160" y="296228"/>
            <a:chExt cx="6541160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2980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DMD 分布匹配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65411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DMD 包含两个交替更新的训练阶段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6542" y="1473518"/>
            <a:ext cx="11132058" cy="1574482"/>
            <a:chOff x="526542" y="1473518"/>
            <a:chExt cx="11132058" cy="1574482"/>
          </a:xfrm>
        </p:grpSpPr>
        <p:sp>
          <p:nvSpPr>
            <p:cNvPr id="6" name="TextBox 6"/>
            <p:cNvSpPr txBox="1"/>
            <p:nvPr/>
          </p:nvSpPr>
          <p:spPr>
            <a:xfrm>
              <a:off x="526542" y="1473518"/>
              <a:ext cx="4152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阶段 A · 更新 Student：决定生成分布往哪里移动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1924050"/>
              <a:ext cx="188595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2105025"/>
              <a:ext cx="16118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rollout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6854" y="2442210"/>
              <a:ext cx="13126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得到 fake sample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419350" y="236220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2971800" y="22860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105150" y="1924050"/>
              <a:ext cx="173355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07080" y="21050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随机加噪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08604" y="2442210"/>
              <a:ext cx="1361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构造 noisy sample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838700" y="236220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5381625" y="2295525"/>
              <a:ext cx="133350" cy="1333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5448300" y="2057400"/>
              <a:ext cx="742950" cy="304800"/>
            </a:xfrm>
            <a:custGeom>
              <a:avLst/>
              <a:gdLst/>
              <a:ahLst/>
              <a:cxnLst/>
              <a:rect l="l" t="t" r="r" b="b"/>
              <a:pathLst>
                <a:path w="742950" h="304800">
                  <a:moveTo>
                    <a:pt x="0" y="304800"/>
                  </a:moveTo>
                  <a:lnTo>
                    <a:pt x="74295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448300" y="2362200"/>
              <a:ext cx="742950" cy="304800"/>
            </a:xfrm>
            <a:custGeom>
              <a:avLst/>
              <a:gdLst/>
              <a:ahLst/>
              <a:cxnLst/>
              <a:rect l="l" t="t" r="r" b="b"/>
              <a:pathLst>
                <a:path w="742950" h="304800">
                  <a:moveTo>
                    <a:pt x="0" y="0"/>
                  </a:moveTo>
                  <a:lnTo>
                    <a:pt x="742950" y="30480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191250" y="1752600"/>
              <a:ext cx="1866900" cy="5905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4892" y="1978342"/>
              <a:ext cx="17659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Teacher real score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91250" y="2457450"/>
              <a:ext cx="1866900" cy="5905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74892" y="2683192"/>
              <a:ext cx="1613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 fake score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058150" y="2057400"/>
              <a:ext cx="647700" cy="304800"/>
            </a:xfrm>
            <a:custGeom>
              <a:avLst/>
              <a:gdLst/>
              <a:ahLst/>
              <a:cxnLst/>
              <a:rect l="l" t="t" r="r" b="b"/>
              <a:pathLst>
                <a:path w="647700" h="304800">
                  <a:moveTo>
                    <a:pt x="0" y="0"/>
                  </a:moveTo>
                  <a:lnTo>
                    <a:pt x="647700" y="30480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058150" y="2362200"/>
              <a:ext cx="647700" cy="390525"/>
            </a:xfrm>
            <a:custGeom>
              <a:avLst/>
              <a:gdLst/>
              <a:ahLst/>
              <a:cxnLst/>
              <a:rect l="l" t="t" r="r" b="b"/>
              <a:pathLst>
                <a:path w="647700" h="390525">
                  <a:moveTo>
                    <a:pt x="0" y="390525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705850" y="1924050"/>
              <a:ext cx="2952750" cy="876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907780" y="2105025"/>
              <a:ext cx="1775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score difference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09304" y="2442210"/>
              <a:ext cx="19908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反向传播，只更新 Student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26542" y="3702368"/>
            <a:ext cx="11132058" cy="1269682"/>
            <a:chOff x="526542" y="3702368"/>
            <a:chExt cx="11132058" cy="1269682"/>
          </a:xfrm>
        </p:grpSpPr>
        <p:sp>
          <p:nvSpPr>
            <p:cNvPr id="29" name="TextBox 29"/>
            <p:cNvSpPr txBox="1"/>
            <p:nvPr/>
          </p:nvSpPr>
          <p:spPr>
            <a:xfrm>
              <a:off x="526542" y="3702368"/>
              <a:ext cx="51710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阶段 B · 更新 Critic：让 fake score 跟上 Student 当前分布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133850"/>
              <a:ext cx="2171700" cy="83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5330" y="4295775"/>
              <a:ext cx="1591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sample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6854" y="4613910"/>
              <a:ext cx="1388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停止 Student 梯度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2705100" y="45529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3238500" y="44767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371850" y="4133850"/>
              <a:ext cx="217170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573780" y="42957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随机加噪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75304" y="46139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覆盖不同噪声等级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543550" y="45529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6076950" y="44767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10300" y="4133850"/>
              <a:ext cx="2171700" cy="8382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12230" y="4295775"/>
              <a:ext cx="10863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 回归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13754" y="4613910"/>
              <a:ext cx="1732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 fake distribution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382000" y="45529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8915400" y="44767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048750" y="4133850"/>
              <a:ext cx="2609850" cy="83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50680" y="4295775"/>
              <a:ext cx="1664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Critic optimizer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52204" y="4613910"/>
              <a:ext cx="1006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只更新 Critic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33400" y="5619750"/>
            <a:ext cx="11125200" cy="552450"/>
            <a:chOff x="533400" y="5619750"/>
            <a:chExt cx="11125200" cy="552450"/>
          </a:xfrm>
        </p:grpSpPr>
        <p:sp>
          <p:nvSpPr>
            <p:cNvPr id="49" name="Rectangle 49"/>
            <p:cNvSpPr/>
            <p:nvPr/>
          </p:nvSpPr>
          <p:spPr>
            <a:xfrm>
              <a:off x="533400" y="5619750"/>
              <a:ext cx="1112520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5330" y="5800725"/>
              <a:ext cx="69689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Critic 描述 Student 现在在哪里；Teacher 告诉 Student 真实分布在哪里。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52" name="TextBox 52"/>
            <p:cNvSpPr txBox="1"/>
            <p:nvPr/>
          </p:nvSpPr>
          <p:spPr>
            <a:xfrm>
              <a:off x="528066" y="6468428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先看全局闭环，下一页再拆两个阶段的梯度边界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5704222" cy="804862"/>
            <a:chOff x="518160" y="296228"/>
            <a:chExt cx="5704222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2980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DMD 分布匹配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570422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Student 与 Critic 的梯度边界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1390650"/>
            <a:ext cx="11125200" cy="1981200"/>
            <a:chOff x="533400" y="1390650"/>
            <a:chExt cx="11125200" cy="1981200"/>
          </a:xfrm>
        </p:grpSpPr>
        <p:sp>
          <p:nvSpPr>
            <p:cNvPr id="6" name="Rectangle 6"/>
            <p:cNvSpPr/>
            <p:nvPr/>
          </p:nvSpPr>
          <p:spPr>
            <a:xfrm>
              <a:off x="533400" y="1390650"/>
              <a:ext cx="95250" cy="198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9818" y="1517332"/>
              <a:ext cx="1761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Student update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2104" y="1870710"/>
              <a:ext cx="36867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Teacher 与 Critic 只提供方向，不在这一阶段更新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247900"/>
              <a:ext cx="1866900" cy="74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1842" y="2426018"/>
              <a:ext cx="14506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rollout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3366" y="27251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保留目标步骤计算图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705100" y="26193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219450" y="25431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352800" y="2247900"/>
              <a:ext cx="18669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36442" y="2426018"/>
              <a:ext cx="15889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 noisy sample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37966" y="27251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共享噪声状态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219700" y="26193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5734050" y="25431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867400" y="2247900"/>
              <a:ext cx="2647950" cy="7429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51042" y="2426018"/>
              <a:ext cx="2189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real score + fake score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52566" y="2725102"/>
              <a:ext cx="1600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两条分支全部 stop-grad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515350" y="26193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9029700" y="25431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163050" y="2247900"/>
              <a:ext cx="2495550" cy="7429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46692" y="2426018"/>
              <a:ext cx="16989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optimizer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48216" y="2725102"/>
              <a:ext cx="14592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score 差反传 Student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33400" y="3676650"/>
            <a:ext cx="11125200" cy="1981200"/>
            <a:chOff x="533400" y="3676650"/>
            <a:chExt cx="11125200" cy="1981200"/>
          </a:xfrm>
        </p:grpSpPr>
        <p:sp>
          <p:nvSpPr>
            <p:cNvPr id="28" name="Rectangle 28"/>
            <p:cNvSpPr/>
            <p:nvPr/>
          </p:nvSpPr>
          <p:spPr>
            <a:xfrm>
              <a:off x="533400" y="3676650"/>
              <a:ext cx="95250" cy="1981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9818" y="3803332"/>
              <a:ext cx="15164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 update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4156710"/>
              <a:ext cx="39694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Student 样本成为训练数据，但不把梯度传回 Student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" y="4533900"/>
              <a:ext cx="1866900" cy="74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21842" y="4712018"/>
              <a:ext cx="11109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fake sample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3366" y="5011102"/>
              <a:ext cx="10683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detach Student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705100" y="49053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3219450" y="48291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352800" y="4533900"/>
              <a:ext cx="18669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536442" y="4712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加噪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37966" y="5011102"/>
              <a:ext cx="964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构造 flow 监督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219700" y="49053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5734050" y="48291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67400" y="4533900"/>
              <a:ext cx="2647950" cy="7429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51042" y="4712018"/>
              <a:ext cx="15648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 prediction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52566" y="5011102"/>
              <a:ext cx="15191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video MSE + audio MSE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515350" y="49053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9029700" y="48291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163050" y="4533900"/>
              <a:ext cx="249555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46692" y="4712018"/>
              <a:ext cx="14981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Critic optimizer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48216" y="5011102"/>
              <a:ext cx="8810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只更新 Critic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528066" y="6468428"/>
              <a:ext cx="36371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两种更新共享 Student 样本，但反向传播的参数集合不同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6178448" cy="804862"/>
            <a:chOff x="518160" y="296228"/>
            <a:chExt cx="6178448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469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从 DMD 到 DMD2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617844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DMD 的问题与 DMD2 的对应改进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7304" y="1413510"/>
            <a:ext cx="11131296" cy="3672840"/>
            <a:chOff x="527304" y="1413510"/>
            <a:chExt cx="11131296" cy="3672840"/>
          </a:xfrm>
        </p:grpSpPr>
        <p:sp>
          <p:nvSpPr>
            <p:cNvPr id="6" name="TextBox 6"/>
            <p:cNvSpPr txBox="1"/>
            <p:nvPr/>
          </p:nvSpPr>
          <p:spPr>
            <a:xfrm>
              <a:off x="527304" y="1413510"/>
              <a:ext cx="1250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DMD 的误差来源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99504" y="1413510"/>
              <a:ext cx="15202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DMD2 的结构性改进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771650"/>
              <a:ext cx="41910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35330" y="1895475"/>
              <a:ext cx="20128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配对回归起步成本高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6854" y="2194560"/>
              <a:ext cx="2039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依赖 Teacher 生成成对样本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4724400" y="21145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6343650" y="2038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705600" y="1771650"/>
              <a:ext cx="4953000" cy="685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07530" y="18954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去掉回归式初始化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09054" y="2194560"/>
              <a:ext cx="2479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直接从分布匹配信号训练 Student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7950"/>
              <a:ext cx="41910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5330" y="2771775"/>
              <a:ext cx="1776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fake score 滞后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6854" y="3070860"/>
              <a:ext cx="23831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Critic 跟不上 Student 分布变化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724400" y="29908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6343650" y="29146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705600" y="2647950"/>
              <a:ext cx="4953000" cy="685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07530" y="27717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双时间尺度更新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09054" y="3070860"/>
              <a:ext cx="26601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Critic 高频更新，Student 低频更新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524250"/>
              <a:ext cx="41910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5330" y="3648075"/>
              <a:ext cx="1810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局部真实信号不足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854" y="3947160"/>
              <a:ext cx="20072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只靠 score 差可能约束不够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724400" y="38671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6343650" y="3790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05600" y="3524250"/>
              <a:ext cx="4953000" cy="685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07530" y="3648075"/>
              <a:ext cx="17994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真实数据 GAN 分支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09054" y="39471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为真实样本附近补充判别信号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400550"/>
              <a:ext cx="41910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5330" y="4524375"/>
              <a:ext cx="18981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 Student 状态错位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854" y="4823460"/>
              <a:ext cx="22657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训练时没看到自身 rollout 状态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724400" y="47434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6343650" y="46672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05600" y="4400550"/>
              <a:ext cx="4953000" cy="685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07530" y="4524375"/>
              <a:ext cx="21102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Backward simulation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09054" y="4823460"/>
              <a:ext cx="26910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Student 自身随机前缀轨迹上训练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400" y="5695950"/>
            <a:ext cx="11125200" cy="457200"/>
            <a:chOff x="533400" y="5695950"/>
            <a:chExt cx="11125200" cy="457200"/>
          </a:xfrm>
        </p:grpSpPr>
        <p:sp>
          <p:nvSpPr>
            <p:cNvPr id="41" name="Rectangle 41"/>
            <p:cNvSpPr/>
            <p:nvPr/>
          </p:nvSpPr>
          <p:spPr>
            <a:xfrm>
              <a:off x="533400" y="5695950"/>
              <a:ext cx="11125200" cy="457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7042" y="5845492"/>
              <a:ext cx="80305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 H3 bring-up 核心：多步 Student + 三角色 score + 双模态 Critic MSE + 随机前缀 rollout。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528066" y="6468428"/>
              <a:ext cx="4589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对四步 H3 最关键的是 backward simulation，其次是 Critic 的跟随速度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8556030" cy="804862"/>
            <a:chOff x="518160" y="296228"/>
            <a:chExt cx="8556030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469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从 DMD 到 DMD2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85560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Backward simulation 如何训练多步 Student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6542" y="1473518"/>
            <a:ext cx="10236708" cy="2283333"/>
            <a:chOff x="526542" y="1473518"/>
            <a:chExt cx="10236708" cy="2283333"/>
          </a:xfrm>
        </p:grpSpPr>
        <p:sp>
          <p:nvSpPr>
            <p:cNvPr id="6" name="TextBox 6"/>
            <p:cNvSpPr txBox="1"/>
            <p:nvPr/>
          </p:nvSpPr>
          <p:spPr>
            <a:xfrm>
              <a:off x="526542" y="1473518"/>
              <a:ext cx="2879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示例：随机选择 target_index = 2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619250" y="23241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209800" y="2152650"/>
              <a:ext cx="342900" cy="3429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4781550" y="2152650"/>
              <a:ext cx="342900" cy="3429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324725" y="2124075"/>
              <a:ext cx="400050" cy="4000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925050" y="2152650"/>
              <a:ext cx="342900" cy="3429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135505" y="26193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999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07255" y="26193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749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79005" y="26193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500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50755" y="26193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250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17954" y="31089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前缀 · no_grad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89704" y="31089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前缀 · no_grad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13804" y="3108960"/>
              <a:ext cx="1633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目标步骤 · backward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33204" y="3108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本次不执行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6542" y="3492818"/>
              <a:ext cx="72045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 999 → 749 → 500；前两步构造 Student 自己会遇到的状态，只有 500 保留计算图。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4057650"/>
            <a:ext cx="11125200" cy="1466850"/>
            <a:chOff x="533400" y="4057650"/>
            <a:chExt cx="11125200" cy="1466850"/>
          </a:xfrm>
        </p:grpSpPr>
        <p:sp>
          <p:nvSpPr>
            <p:cNvPr id="22" name="Line 22"/>
            <p:cNvSpPr/>
            <p:nvPr/>
          </p:nvSpPr>
          <p:spPr>
            <a:xfrm>
              <a:off x="533400" y="40576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4343400"/>
              <a:ext cx="3333750" cy="1181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4380" y="4505325"/>
              <a:ext cx="14070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随机目标位置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5904" y="4861560"/>
              <a:ext cx="2403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不同训练 step 轮流覆盖四个位置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904" y="51282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每个位置都能成为学习目标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171950" y="4343400"/>
              <a:ext cx="3333750" cy="11811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392930" y="4505325"/>
              <a:ext cx="1810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在自身轨迹上学习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94454" y="4861560"/>
              <a:ext cx="25282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训练输入来自 Student 的前缀输出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94454" y="51282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解决多步推理的状态错位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10500" y="4343400"/>
              <a:ext cx="3848100" cy="1181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1480" y="4505325"/>
              <a:ext cx="1810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只保留一段反向图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33004" y="48615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前缀不保存梯度，降低训练显存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33004" y="5128260"/>
              <a:ext cx="1942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但仍保留真实 rollout 状态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528066" y="6468428"/>
              <a:ext cx="39513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Backward simulation 是 DMD2 支持四步 Student 的关键机制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5743518" cy="804862"/>
            <a:chOff x="518160" y="296228"/>
            <a:chExt cx="5743518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9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DMD2 落到 MiniMax-H3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574351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H3 与普通视频 DiT 的结构差异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3400" y="1752600"/>
            <a:ext cx="11225632" cy="1866900"/>
            <a:chOff x="533400" y="1752600"/>
            <a:chExt cx="11225632" cy="1866900"/>
          </a:xfrm>
        </p:grpSpPr>
        <p:sp>
          <p:nvSpPr>
            <p:cNvPr id="6" name="Rectangle 6"/>
            <p:cNvSpPr/>
            <p:nvPr/>
          </p:nvSpPr>
          <p:spPr>
            <a:xfrm>
              <a:off x="533400" y="1752600"/>
              <a:ext cx="2000250" cy="186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5330" y="19335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6092" y="234981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文本 prompt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6092" y="2730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参考图像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6092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参考视频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2533650" y="26860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2971800" y="2609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105150" y="1981200"/>
              <a:ext cx="2095500" cy="14097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307080" y="2238375"/>
              <a:ext cx="15474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Qwen3-VL-32B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07842" y="2616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条件编码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08604" y="2956560"/>
              <a:ext cx="1264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token / feature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200650" y="26860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5638800" y="2609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772150" y="1752600"/>
              <a:ext cx="2266950" cy="186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74080" y="1990725"/>
              <a:ext cx="784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Packing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74842" y="23879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video latent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74842" y="27308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audio latent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74842" y="3073718"/>
              <a:ext cx="1594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位置 / 时间 / mask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039100" y="26860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8477250" y="2609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610600" y="1752600"/>
              <a:ext cx="3048000" cy="186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49868" y="1974532"/>
              <a:ext cx="24445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H3 Omni Transformer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51392" y="2368868"/>
              <a:ext cx="23538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33B Dense · joint sequence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858250" y="2762250"/>
              <a:ext cx="2552700" cy="9525"/>
            </a:xfrm>
            <a:custGeom>
              <a:avLst/>
              <a:gdLst/>
              <a:ahLst/>
              <a:cxnLst/>
              <a:rect l="l" t="t" r="r" b="b"/>
              <a:pathLst>
                <a:path w="2552700" h="9525">
                  <a:moveTo>
                    <a:pt x="0" y="0"/>
                  </a:moveTo>
                  <a:lnTo>
                    <a:pt x="2552700" y="0"/>
                  </a:lnTo>
                </a:path>
              </a:pathLst>
            </a:custGeom>
            <a:noFill/>
            <a:ln w="9525">
              <a:solidFill>
                <a:srgbClr val="FFFFFF">
                  <a:alpha val="50000"/>
                </a:srgb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851392" y="2959418"/>
              <a:ext cx="1431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video prediction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327767" y="2959418"/>
              <a:ext cx="1431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audio prediction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6542" y="4692968"/>
            <a:ext cx="11132058" cy="1022032"/>
            <a:chOff x="526542" y="4692968"/>
            <a:chExt cx="11132058" cy="1022032"/>
          </a:xfrm>
        </p:grpSpPr>
        <p:sp>
          <p:nvSpPr>
            <p:cNvPr id="33" name="TextBox 33"/>
            <p:cNvSpPr txBox="1"/>
            <p:nvPr/>
          </p:nvSpPr>
          <p:spPr>
            <a:xfrm>
              <a:off x="526542" y="46929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同一结构，被三种角色复用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067300"/>
              <a:ext cx="3333750" cy="64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6280" y="5305425"/>
              <a:ext cx="2025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· trainable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171950" y="5067300"/>
              <a:ext cx="3333750" cy="647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354830" y="5305425"/>
              <a:ext cx="17827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Teacher · frozen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810500" y="5067300"/>
              <a:ext cx="3848100" cy="6477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993380" y="5305425"/>
              <a:ext cx="18029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 · trainable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1" name="TextBox 41"/>
            <p:cNvSpPr txBox="1"/>
            <p:nvPr/>
          </p:nvSpPr>
          <p:spPr>
            <a:xfrm>
              <a:off x="528066" y="6468428"/>
              <a:ext cx="41029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H3 的蒸馏对象是联合视频音频生成器，而不是单独的视频分支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5842406" cy="804862"/>
            <a:chOff x="518160" y="296228"/>
            <a:chExt cx="5842406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9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DMD2 落到 MiniMax-H3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58424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一次完整的 H3 DMD2 训练迭代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6542" y="1435418"/>
            <a:ext cx="5264658" cy="3879532"/>
            <a:chOff x="526542" y="1435418"/>
            <a:chExt cx="5264658" cy="3879532"/>
          </a:xfrm>
        </p:grpSpPr>
        <p:sp>
          <p:nvSpPr>
            <p:cNvPr id="6" name="TextBox 6"/>
            <p:cNvSpPr txBox="1"/>
            <p:nvPr/>
          </p:nvSpPr>
          <p:spPr>
            <a:xfrm>
              <a:off x="526542" y="1435418"/>
              <a:ext cx="1468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 · Critic phase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1790700"/>
              <a:ext cx="5257800" cy="35242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81050" y="2057400"/>
              <a:ext cx="47625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3742" y="2235518"/>
              <a:ext cx="4315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Student 四步 rollout → joint video/audio sample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162300" y="2571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3086100" y="27241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13335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81050" y="2857500"/>
              <a:ext cx="476250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3742" y="3035618"/>
              <a:ext cx="33750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detach Student → video/audio 分别加噪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162300" y="33718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3086100" y="35242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13335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657600"/>
              <a:ext cx="4762500" cy="5143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742" y="3835718"/>
              <a:ext cx="15648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 prediction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162300" y="41719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3086100" y="43243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13335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4457700"/>
              <a:ext cx="4762500" cy="590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3742" y="4673918"/>
              <a:ext cx="32393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video MSE + audio MSE · 更新 Critic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165342" y="1435418"/>
            <a:ext cx="5493258" cy="3879532"/>
            <a:chOff x="6165342" y="1435418"/>
            <a:chExt cx="5493258" cy="3879532"/>
          </a:xfrm>
        </p:grpSpPr>
        <p:sp>
          <p:nvSpPr>
            <p:cNvPr id="23" name="TextBox 23"/>
            <p:cNvSpPr txBox="1"/>
            <p:nvPr/>
          </p:nvSpPr>
          <p:spPr>
            <a:xfrm>
              <a:off x="6165342" y="1435418"/>
              <a:ext cx="1669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 · Student phase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172200" y="1790700"/>
              <a:ext cx="5486400" cy="35242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19850" y="2057400"/>
              <a:ext cx="49911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22542" y="2235518"/>
              <a:ext cx="32922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随机前缀 rollout → 仅目标步骤保留梯度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8915400" y="2571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8839200" y="27241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13335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19850" y="2857500"/>
              <a:ext cx="2381250" cy="5143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22542" y="3035618"/>
              <a:ext cx="1454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video shift = 12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029700" y="2857500"/>
              <a:ext cx="2381250" cy="5143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32392" y="30356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audio shift = 3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610475" y="3371850"/>
              <a:ext cx="885825" cy="342900"/>
            </a:xfrm>
            <a:custGeom>
              <a:avLst/>
              <a:gdLst/>
              <a:ahLst/>
              <a:cxnLst/>
              <a:rect l="l" t="t" r="r" b="b"/>
              <a:pathLst>
                <a:path w="885825" h="342900">
                  <a:moveTo>
                    <a:pt x="0" y="0"/>
                  </a:moveTo>
                  <a:lnTo>
                    <a:pt x="885825" y="342900"/>
                  </a:lnTo>
                </a:path>
              </a:pathLst>
            </a:custGeom>
            <a:noFill/>
            <a:ln w="9525">
              <a:solidFill>
                <a:schemeClr val="dk1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9334500" y="3371850"/>
              <a:ext cx="885825" cy="342900"/>
            </a:xfrm>
            <a:custGeom>
              <a:avLst/>
              <a:gdLst/>
              <a:ahLst/>
              <a:cxnLst/>
              <a:rect l="l" t="t" r="r" b="b"/>
              <a:pathLst>
                <a:path w="885825" h="342900">
                  <a:moveTo>
                    <a:pt x="885825" y="0"/>
                  </a:moveTo>
                  <a:lnTo>
                    <a:pt x="0" y="342900"/>
                  </a:lnTo>
                </a:path>
              </a:pathLst>
            </a:custGeom>
            <a:noFill/>
            <a:ln w="9525">
              <a:solidFill>
                <a:schemeClr val="dk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19850" y="3714750"/>
              <a:ext cx="499110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22542" y="3892868"/>
              <a:ext cx="34154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Teacher real score + Critic fake score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8915400" y="42291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8839200" y="438150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13335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19850" y="4514850"/>
              <a:ext cx="4991100" cy="533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22542" y="4692968"/>
              <a:ext cx="34407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video DMD + audio DMD · 更新 Student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33400" y="5619750"/>
            <a:ext cx="11125200" cy="568261"/>
            <a:chOff x="533400" y="5619750"/>
            <a:chExt cx="11125200" cy="568261"/>
          </a:xfrm>
        </p:grpSpPr>
        <p:sp>
          <p:nvSpPr>
            <p:cNvPr id="42" name="Rectangle 42"/>
            <p:cNvSpPr/>
            <p:nvPr/>
          </p:nvSpPr>
          <p:spPr>
            <a:xfrm>
              <a:off x="533400" y="5619750"/>
              <a:ext cx="1112520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6854" y="57378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当前已验证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937004" y="5737860"/>
              <a:ext cx="40911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四步三角色、双模态 loss、随机前缀、严格四步导出推理</a:t>
              </a:r>
            </a:p>
          </p:txBody>
        </p:sp>
        <p:sp>
          <p:nvSpPr>
            <p:cNvPr id="45" name="TextBox 45"/>
            <p:cNvSpPr/>
            <p:nvPr/>
          </p:nvSpPr>
          <p:spPr>
            <a:xfrm>
              <a:off x="737616" y="5982652"/>
              <a:ext cx="50011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本页验收重点：两个 phase 都完成有限 loss、反向传播与对应 optimizer 更新。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528066" y="6468428"/>
              <a:ext cx="3869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两个 phase 使用两个 optimizer，按配置的更新间隔交替执行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18160" y="296228"/>
            <a:ext cx="4876800" cy="804862"/>
            <a:chOff x="518160" y="296228"/>
            <a:chExt cx="4876800" cy="80486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296228"/>
              <a:ext cx="19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DMD2 落到 MiniMax-H3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51435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训练参数如何控制各条路径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6542" y="1375410"/>
            <a:ext cx="5226558" cy="4216146"/>
            <a:chOff x="526542" y="1375410"/>
            <a:chExt cx="5226558" cy="4216146"/>
          </a:xfrm>
        </p:grpSpPr>
        <p:sp>
          <p:nvSpPr>
            <p:cNvPr id="6" name="TextBox 6"/>
            <p:cNvSpPr txBox="1"/>
            <p:nvPr/>
          </p:nvSpPr>
          <p:spPr>
            <a:xfrm>
              <a:off x="527304" y="1375410"/>
              <a:ext cx="182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参数 / 当前 bring-up 值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33400" y="167640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542" y="18735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dmd_denoising_steps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69742" y="1873568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[999,749,500,250]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7304" y="2156460"/>
              <a:ext cx="3223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Student rollout 与严格推理共用的四点网格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33400" y="247650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542" y="26736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min/max timestep ratio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98392" y="26736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0.02 / 0.98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7304" y="2956560"/>
              <a:ext cx="31147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DMD 与 Critic 随机 score 加噪的采样范围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33400" y="327660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542" y="3473768"/>
              <a:ext cx="25126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generator_update_interval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27042" y="3473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7304" y="3756660"/>
              <a:ext cx="4103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smoke：每一步都更新 Student；常见 DMD2 文档可见 5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33400" y="407670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542" y="42738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student_lr / critic_lr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17442" y="42738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1e-6 / 1e-6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7304" y="4556760"/>
              <a:ext cx="3283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两个 optimizer 独立控制，不应默认绑定调节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33400" y="487680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542" y="5073968"/>
              <a:ext cx="25126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video_shift / audio_shift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17442" y="507396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12.0 / 3.0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7304" y="5356860"/>
              <a:ext cx="2831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 base timestep 的双模态噪声映射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164580" y="1375410"/>
            <a:ext cx="5494020" cy="4530090"/>
            <a:chOff x="6164580" y="1375410"/>
            <a:chExt cx="5494020" cy="4530090"/>
          </a:xfrm>
        </p:grpSpPr>
        <p:sp>
          <p:nvSpPr>
            <p:cNvPr id="28" name="TextBox 28"/>
            <p:cNvSpPr txBox="1"/>
            <p:nvPr/>
          </p:nvSpPr>
          <p:spPr>
            <a:xfrm>
              <a:off x="6166104" y="13754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它控制什么 / 调整风险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172200" y="16764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64580" y="1857375"/>
              <a:ext cx="29086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· 推理网格 ≠ score 采样范围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66104" y="2194560"/>
              <a:ext cx="4597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四点网格定义 Student 走几步；ratio 定义在哪个噪声等级比较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66104" y="2423160"/>
              <a:ext cx="4468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Teacher 与 Critic。把二者混成“步数配置”会误判训练覆盖。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172200" y="276225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64580" y="2943225"/>
              <a:ext cx="3452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 · 更新间隔决定 fake score 新鲜度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66104" y="3280410"/>
              <a:ext cx="4933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变大：Student 更新更稀疏，Critic 有更多机会追踪分布；但单次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66104" y="3509010"/>
              <a:ext cx="4990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Student 更新依赖更长的 Critic 轨迹，需要结合稳定性与成本观察。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172200" y="38481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64580" y="4029075"/>
              <a:ext cx="33831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 · 学习率分别影响生成器与估计器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66104" y="4366260"/>
              <a:ext cx="48630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Student LR 过大可能破坏原模型能力；Critic LR 过小会导致 fake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66104" y="4594860"/>
              <a:ext cx="40992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 滞后。应同时看两类 loss、梯度范数与生成样本。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172200" y="5067300"/>
              <a:ext cx="5486400" cy="83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74892" y="5226368"/>
              <a:ext cx="2335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Bring-up 与质量训练要分开</a:t>
              </a:r>
            </a:p>
          </p:txBody>
        </p:sp>
        <p:sp>
          <p:nvSpPr>
            <p:cNvPr id="43" name="TextBox 43"/>
            <p:cNvSpPr/>
            <p:nvPr/>
          </p:nvSpPr>
          <p:spPr>
            <a:xfrm>
              <a:off x="6375654" y="5528310"/>
              <a:ext cx="52029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BBC2C7"/>
                  </a:solidFill>
                  <a:latin typeface="Arial"/>
                  <a:ea typeface="Microsoft YaHei"/>
                  <a:cs typeface="Arial"/>
                </a:rPr>
                <a:t>Dense SDPA + BF16 验证机制；参数变化看 loss、梯度和样本。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8066" y="6468428"/>
            <a:ext cx="10910354" cy="205359"/>
            <a:chOff x="528066" y="6468428"/>
            <a:chExt cx="10910354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528066" y="6468428"/>
              <a:ext cx="40038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smoke 验证机制；最终质量还取决于数据、训练长度和参数组合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72266" y="6468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499110" y="305752"/>
            <a:ext cx="10339553" cy="909638"/>
            <a:chOff x="499110" y="305752"/>
            <a:chExt cx="10339553" cy="909638"/>
          </a:xfrm>
        </p:grpSpPr>
        <p:sp>
          <p:nvSpPr>
            <p:cNvPr id="3" name="TextBox 3"/>
            <p:cNvSpPr txBox="1"/>
            <p:nvPr/>
          </p:nvSpPr>
          <p:spPr>
            <a:xfrm>
              <a:off x="518541" y="305752"/>
              <a:ext cx="16456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05 · 昇腾 910B 工程闭环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9110" y="62865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昇腾适配的五个关键改动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966710" y="8120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阻塞点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572500" y="8763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rgbClr val="BBC2C7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23985" y="8120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代码适配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772650" y="8763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rgbClr val="BBC2C7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24135" y="8120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运行结果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23875" y="1381125"/>
            <a:ext cx="11134725" cy="457200"/>
            <a:chOff x="523875" y="1381125"/>
            <a:chExt cx="11134725" cy="457200"/>
          </a:xfrm>
        </p:grpSpPr>
        <p:sp>
          <p:nvSpPr>
            <p:cNvPr id="11" name="Rectangle 11"/>
            <p:cNvSpPr/>
            <p:nvPr/>
          </p:nvSpPr>
          <p:spPr>
            <a:xfrm>
              <a:off x="523875" y="1381125"/>
              <a:ext cx="11134725" cy="457200"/>
            </a:xfrm>
            <a:prstGeom prst="rect">
              <a:avLst/>
            </a:prstGeom>
            <a:solidFill>
              <a:srgbClr val="20252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7804" y="15373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原始阻塞点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84804" y="15373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实际代码与运行策略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23554" y="1537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适配后的结果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3875" y="1838325"/>
            <a:ext cx="11134725" cy="723900"/>
            <a:chOff x="523875" y="1838325"/>
            <a:chExt cx="11134725" cy="723900"/>
          </a:xfrm>
        </p:grpSpPr>
        <p:sp>
          <p:nvSpPr>
            <p:cNvPr id="16" name="Rectangle 16"/>
            <p:cNvSpPr/>
            <p:nvPr/>
          </p:nvSpPr>
          <p:spPr>
            <a:xfrm>
              <a:off x="523875" y="1838325"/>
              <a:ext cx="11134725" cy="723900"/>
            </a:xfrm>
            <a:prstGeom prst="rect">
              <a:avLst/>
            </a:prstGeom>
            <a:solidFill>
              <a:srgbClr val="EDED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23875" y="1838325"/>
              <a:ext cx="57150" cy="72390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7804" y="1946910"/>
              <a:ext cx="17475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CUDA 设备语义硬编码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2209324"/>
              <a:ext cx="27734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同步、清缓存、随机状态都直接调用 torch.cuda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85185" y="1955006"/>
              <a:ext cx="29601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统一改走 current_platform 与本地设备接口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86138" y="2217420"/>
              <a:ext cx="30400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2F6FA3"/>
                  </a:solidFill>
                  <a:latin typeface="Arial"/>
                  <a:ea typeface="Arial"/>
                  <a:cs typeface="Arial"/>
                </a:rPr>
                <a:t>platforms/npu.py · communication_op.py · checkpoint.py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24316" y="1963102"/>
              <a:ext cx="21597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预处理、训练、推理都使用 NPU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24697" y="2209324"/>
              <a:ext cx="2412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seed 与断点恢复也保存 NPU RNG 状态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3875" y="2562225"/>
            <a:ext cx="11134725" cy="723900"/>
            <a:chOff x="523875" y="2562225"/>
            <a:chExt cx="11134725" cy="723900"/>
          </a:xfrm>
        </p:grpSpPr>
        <p:sp>
          <p:nvSpPr>
            <p:cNvPr id="25" name="Rectangle 25"/>
            <p:cNvSpPr/>
            <p:nvPr/>
          </p:nvSpPr>
          <p:spPr>
            <a:xfrm>
              <a:off x="523875" y="2562225"/>
              <a:ext cx="11134725" cy="723900"/>
            </a:xfrm>
            <a:prstGeom prst="rect">
              <a:avLst/>
            </a:prstGeom>
            <a:solidFill>
              <a:srgbClr val="F7F5F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23875" y="2562225"/>
              <a:ext cx="57150" cy="723900"/>
            </a:xfrm>
            <a:prstGeom prst="rect">
              <a:avLst/>
            </a:prstGeom>
            <a:solidFill>
              <a:srgbClr val="2F6FA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7804" y="2670810"/>
              <a:ext cx="2013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启动与通信仍按 GPU 假设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8947" y="2933224"/>
              <a:ext cx="30325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设备枚举、rank 可见性、SP warm-up 不适配 910B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85185" y="2678906"/>
              <a:ext cx="33009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识别 npu-smi，配置八个 rank、HCCL 与 SP=8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86138" y="2941320"/>
              <a:ext cx="30806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2F6FA3"/>
                  </a:solidFill>
                  <a:latin typeface="Arial"/>
                  <a:ea typeface="Arial"/>
                  <a:cs typeface="Arial"/>
                </a:rPr>
                <a:t>run_ascend.sh · parallel_state.py · communication_op.py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24316" y="2687002"/>
              <a:ext cx="20844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八个 worker 正确看到 device 0–7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24697" y="293322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联合视频音频序列完成八路通信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3875" y="3286125"/>
            <a:ext cx="11134725" cy="723900"/>
            <a:chOff x="523875" y="3286125"/>
            <a:chExt cx="11134725" cy="723900"/>
          </a:xfrm>
        </p:grpSpPr>
        <p:sp>
          <p:nvSpPr>
            <p:cNvPr id="34" name="Rectangle 34"/>
            <p:cNvSpPr/>
            <p:nvPr/>
          </p:nvSpPr>
          <p:spPr>
            <a:xfrm>
              <a:off x="523875" y="3286125"/>
              <a:ext cx="11134725" cy="723900"/>
            </a:xfrm>
            <a:prstGeom prst="rect">
              <a:avLst/>
            </a:prstGeom>
            <a:solidFill>
              <a:srgbClr val="EDED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23875" y="3286125"/>
              <a:ext cx="57150" cy="72390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7804" y="3394710"/>
              <a:ext cx="18614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完整 H3 权重先落到单卡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8947" y="3657124"/>
              <a:ext cx="2364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尚未分片就触发单张 910B 的装载峰值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385185" y="3402806"/>
              <a:ext cx="27395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CPU staging 后直接形成 FSDP2 shard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86138" y="3665220"/>
              <a:ext cx="35138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2F6FA3"/>
                  </a:solidFill>
                  <a:latin typeface="Arial"/>
                  <a:ea typeface="Arial"/>
                  <a:cs typeface="Arial"/>
                </a:rPr>
                <a:t>fsdp_load.py · shard_dim=8 · CPU offload · activation checkpoint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24316" y="3410902"/>
              <a:ext cx="19025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避免分片前的 NPU 显存峰值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24697" y="3657124"/>
              <a:ext cx="2944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Student、Teacher、Critic 三个 33B 角色进入八卡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23875" y="4010025"/>
            <a:ext cx="11134725" cy="723900"/>
            <a:chOff x="523875" y="4010025"/>
            <a:chExt cx="11134725" cy="723900"/>
          </a:xfrm>
        </p:grpSpPr>
        <p:sp>
          <p:nvSpPr>
            <p:cNvPr id="43" name="Rectangle 43"/>
            <p:cNvSpPr/>
            <p:nvPr/>
          </p:nvSpPr>
          <p:spPr>
            <a:xfrm>
              <a:off x="523875" y="4010025"/>
              <a:ext cx="11134725" cy="723900"/>
            </a:xfrm>
            <a:prstGeom prst="rect">
              <a:avLst/>
            </a:prstGeom>
            <a:solidFill>
              <a:srgbClr val="F7F5F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23875" y="4010025"/>
              <a:ext cx="57150" cy="723900"/>
            </a:xfrm>
            <a:prstGeom prst="rect">
              <a:avLst/>
            </a:prstGeom>
            <a:solidFill>
              <a:srgbClr val="2F6FA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7804" y="4118610"/>
              <a:ext cx="20446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Qwen3-VL 参数 dtype 混合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8947" y="4381024"/>
              <a:ext cx="26990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FSDP2 lazy init 要求同组参数原始 dtype 一致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85185" y="4126706"/>
              <a:ext cx="27183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加载时统一 BF16，特征对齐输入 dtype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86138" y="4389120"/>
              <a:ext cx="369352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2F6FA3"/>
                  </a:solidFill>
                  <a:latin typeface="Arial"/>
                  <a:ea typeface="Arial"/>
                  <a:cs typeface="Arial"/>
                </a:rPr>
                <a:t>minimax_h3_qwen3_vl.py · fsdp_load.py · uniform_parameter_dtype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24316" y="4134802"/>
              <a:ext cx="25198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conditioning stage 不再触发 FSDP 断言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24697" y="4381024"/>
              <a:ext cx="23264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训练和导出模型遵守同一 dtype contract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23875" y="4733925"/>
            <a:ext cx="11134725" cy="723900"/>
            <a:chOff x="523875" y="4733925"/>
            <a:chExt cx="11134725" cy="723900"/>
          </a:xfrm>
        </p:grpSpPr>
        <p:sp>
          <p:nvSpPr>
            <p:cNvPr id="52" name="Rectangle 52"/>
            <p:cNvSpPr/>
            <p:nvPr/>
          </p:nvSpPr>
          <p:spPr>
            <a:xfrm>
              <a:off x="523875" y="4733925"/>
              <a:ext cx="11134725" cy="723900"/>
            </a:xfrm>
            <a:prstGeom prst="rect">
              <a:avLst/>
            </a:prstGeom>
            <a:solidFill>
              <a:srgbClr val="EDED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23875" y="4733925"/>
              <a:ext cx="57150" cy="72390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7804" y="4842510"/>
              <a:ext cx="2247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训练 checkpoint 不能直接推理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8947" y="5104924"/>
              <a:ext cx="28960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DCP 是分布式训练状态，不是独立 Student 目录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385185" y="4850606"/>
              <a:ext cx="30328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补齐 DCP 导出、重载校验与 strict 四步入口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386138" y="5129212"/>
              <a:ext cx="468489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2F6FA3"/>
                  </a:solidFill>
                  <a:latin typeface="Arial"/>
                  <a:ea typeface="Arial"/>
                  <a:cs typeface="Arial"/>
                </a:rPr>
                <a:t>dcp_to_diffusers.py · repair_minimax_h3_export_dtype.py · basic_minimax_h3_dense_4step_ascend.py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24316" y="48587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产物可脱离训练框架独立加载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24697" y="5104924"/>
              <a:ext cx="22411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严格四次 DiT forward 输出视频与音频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23875" y="5638800"/>
            <a:ext cx="11134725" cy="523875"/>
            <a:chOff x="523875" y="5638800"/>
            <a:chExt cx="11134725" cy="523875"/>
          </a:xfrm>
        </p:grpSpPr>
        <p:sp>
          <p:nvSpPr>
            <p:cNvPr id="61" name="Rectangle 61"/>
            <p:cNvSpPr/>
            <p:nvPr/>
          </p:nvSpPr>
          <p:spPr>
            <a:xfrm>
              <a:off x="523875" y="5638800"/>
              <a:ext cx="11134725" cy="523875"/>
            </a:xfrm>
            <a:prstGeom prst="rect">
              <a:avLst/>
            </a:prstGeom>
            <a:solidFill>
              <a:srgbClr val="20252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7329" y="5747385"/>
              <a:ext cx="6090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DMD2 数学目标保持一致，工程侧新增了 H3 双模态训练绑定与 NPU 执行路径。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8662" y="5979795"/>
              <a:ext cx="42172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BC2C7"/>
                  </a:solidFill>
                  <a:latin typeface="Arial"/>
                  <a:ea typeface="Microsoft YaHei"/>
                  <a:cs typeface="Arial"/>
                </a:rPr>
                <a:t>四步时间表、三角色职责、video/audio score 与双 optimizer 语义没有被改写。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18541" y="6468428"/>
            <a:ext cx="10921632" cy="205359"/>
            <a:chOff x="518541" y="6468428"/>
            <a:chExt cx="10921632" cy="205359"/>
          </a:xfrm>
        </p:grpSpPr>
        <p:sp>
          <p:nvSpPr>
            <p:cNvPr id="65" name="TextBox 65"/>
            <p:cNvSpPr txBox="1"/>
            <p:nvPr/>
          </p:nvSpPr>
          <p:spPr>
            <a:xfrm>
              <a:off x="518541" y="6468428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适配标准：不仅能启动，还要完成训练、导出和独立四步推理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72266" y="6468428"/>
              <a:ext cx="167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26B73"/>
                  </a:solidFill>
                  <a:latin typeface="Arial"/>
                  <a:ea typeface="Arial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51510" y="572452"/>
            <a:ext cx="6780109" cy="947738"/>
            <a:chOff x="651510" y="572452"/>
            <a:chExt cx="6780109" cy="947738"/>
          </a:xfrm>
        </p:grpSpPr>
        <p:sp>
          <p:nvSpPr>
            <p:cNvPr id="3" name="TextBox 3"/>
            <p:cNvSpPr txBox="1"/>
            <p:nvPr/>
          </p:nvSpPr>
          <p:spPr>
            <a:xfrm>
              <a:off x="670941" y="572452"/>
              <a:ext cx="3022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7000B"/>
                  </a:solidFill>
                  <a:latin typeface="Arial"/>
                  <a:ea typeface="Arial"/>
                  <a:cs typeface="Arial"/>
                </a:rPr>
                <a:t>CONCLUSION · TRAINING TO INFERENCE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1510" y="933450"/>
              <a:ext cx="67801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Dense 四步 Student 的完整交付闭环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61035" y="2000250"/>
            <a:ext cx="10777797" cy="1632109"/>
            <a:chOff x="661035" y="2000250"/>
            <a:chExt cx="10777797" cy="1632109"/>
          </a:xfrm>
        </p:grpSpPr>
        <p:sp>
          <p:nvSpPr>
            <p:cNvPr id="6" name="Line 6"/>
            <p:cNvSpPr/>
            <p:nvPr/>
          </p:nvSpPr>
          <p:spPr>
            <a:xfrm>
              <a:off x="1381125" y="226695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38100">
              <a:solidFill>
                <a:srgbClr val="BBC2C7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71550" y="2000250"/>
              <a:ext cx="1219149" cy="1142714"/>
              <a:chOff x="771550" y="2000250"/>
              <a:chExt cx="1219149" cy="1142714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114425" y="2000250"/>
                <a:ext cx="533400" cy="533400"/>
              </a:xfrm>
              <a:prstGeom prst="ellipse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317348" y="21812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1550" y="2681764"/>
                <a:ext cx="121914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20252B"/>
                    </a:solidFill>
                    <a:latin typeface="Arial"/>
                    <a:ea typeface="Microsoft YaHei"/>
                    <a:cs typeface="Arial"/>
                  </a:rPr>
                  <a:t>权重与数据验收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89846" y="2952274"/>
                <a:ext cx="118255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26B73"/>
                    </a:solidFill>
                    <a:latin typeface="Arial"/>
                    <a:ea typeface="Microsoft YaHei"/>
                    <a:cs typeface="Arial"/>
                  </a:rPr>
                  <a:t>本地加载 · 字段校验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581886" y="2000250"/>
              <a:ext cx="1332278" cy="1142714"/>
              <a:chOff x="2581886" y="2000250"/>
              <a:chExt cx="1332278" cy="1142714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2981325" y="2000250"/>
                <a:ext cx="533400" cy="533400"/>
              </a:xfrm>
              <a:prstGeom prst="ellipse">
                <a:avLst/>
              </a:prstGeom>
              <a:solidFill>
                <a:srgbClr val="2F6FA3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184248" y="21812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581886" y="2681764"/>
                <a:ext cx="133227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20252B"/>
                    </a:solidFill>
                    <a:latin typeface="Arial"/>
                    <a:ea typeface="Microsoft YaHei"/>
                    <a:cs typeface="Arial"/>
                  </a:rPr>
                  <a:t>Dense SFT 单步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715362" y="2952274"/>
                <a:ext cx="10653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26B73"/>
                    </a:solidFill>
                    <a:latin typeface="Arial"/>
                    <a:ea typeface="Microsoft YaHei"/>
                    <a:cs typeface="Arial"/>
                  </a:rPr>
                  <a:t>双模态前后向验收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69542" y="2000250"/>
              <a:ext cx="1490767" cy="1142714"/>
              <a:chOff x="4369542" y="2000250"/>
              <a:chExt cx="1490767" cy="1142714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4848225" y="2000250"/>
                <a:ext cx="533400" cy="533400"/>
              </a:xfrm>
              <a:prstGeom prst="ellipse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051148" y="21812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70038" y="2681764"/>
                <a:ext cx="148977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20252B"/>
                    </a:solidFill>
                    <a:latin typeface="Arial"/>
                    <a:ea typeface="Microsoft YaHei"/>
                    <a:cs typeface="Arial"/>
                  </a:rPr>
                  <a:t>DMD2 三角色训练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369542" y="2952274"/>
                <a:ext cx="149076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26B73"/>
                    </a:solidFill>
                    <a:latin typeface="Arial"/>
                    <a:ea typeface="Microsoft YaHei"/>
                    <a:cs typeface="Arial"/>
                  </a:rPr>
                  <a:t>四步 rollout · 双 optimizer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306068" y="2000250"/>
              <a:ext cx="1351514" cy="1142714"/>
              <a:chOff x="6306068" y="2000250"/>
              <a:chExt cx="1351514" cy="1142714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715125" y="2000250"/>
                <a:ext cx="533400" cy="533400"/>
              </a:xfrm>
              <a:prstGeom prst="ellipse">
                <a:avLst/>
              </a:prstGeom>
              <a:solidFill>
                <a:srgbClr val="2F6FA3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918048" y="21812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06068" y="2681764"/>
                <a:ext cx="135151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20252B"/>
                    </a:solidFill>
                    <a:latin typeface="Arial"/>
                    <a:ea typeface="Arial"/>
                    <a:cs typeface="Arial"/>
                  </a:rPr>
                  <a:t>DCP checkpoint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49162" y="2952274"/>
                <a:ext cx="10653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26B73"/>
                    </a:solidFill>
                    <a:latin typeface="Arial"/>
                    <a:ea typeface="Microsoft YaHei"/>
                    <a:cs typeface="Arial"/>
                  </a:rPr>
                  <a:t>八卡训练状态落盘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081283" y="2000250"/>
              <a:ext cx="1534884" cy="1142714"/>
              <a:chOff x="8081283" y="2000250"/>
              <a:chExt cx="1534884" cy="1142714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8582025" y="2000250"/>
                <a:ext cx="533400" cy="533400"/>
              </a:xfrm>
              <a:prstGeom prst="ellipse">
                <a:avLst/>
              </a:pr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784948" y="21812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23344" y="2681764"/>
                <a:ext cx="145076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20252B"/>
                    </a:solidFill>
                    <a:latin typeface="Arial"/>
                    <a:ea typeface="Microsoft YaHei"/>
                    <a:cs typeface="Arial"/>
                  </a:rPr>
                  <a:t>独立 Student 导出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081283" y="2952274"/>
                <a:ext cx="153488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26B73"/>
                    </a:solidFill>
                    <a:latin typeface="Arial"/>
                    <a:ea typeface="Microsoft YaHei"/>
                    <a:cs typeface="Arial"/>
                  </a:rPr>
                  <a:t>重载模型与 dtype contract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992419" y="2000250"/>
              <a:ext cx="1446413" cy="1142714"/>
              <a:chOff x="9992419" y="2000250"/>
              <a:chExt cx="1446413" cy="1142714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10448925" y="2000250"/>
                <a:ext cx="533400" cy="533400"/>
              </a:xfrm>
              <a:prstGeom prst="ellipse">
                <a:avLst/>
              </a:prstGeom>
              <a:solidFill>
                <a:srgbClr val="20252B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651848" y="21812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6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192207" y="2681764"/>
                <a:ext cx="104683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C7000B"/>
                    </a:solidFill>
                    <a:latin typeface="Arial"/>
                    <a:ea typeface="Microsoft YaHei"/>
                    <a:cs typeface="Arial"/>
                  </a:rPr>
                  <a:t>严格四步验证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992419" y="2952274"/>
                <a:ext cx="144641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26B73"/>
                    </a:solidFill>
                    <a:latin typeface="Arial"/>
                    <a:ea typeface="Microsoft YaHei"/>
                    <a:cs typeface="Arial"/>
                  </a:rPr>
                  <a:t>视频音频输出 · 性能对比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661035" y="3412331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同一条链路覆盖训练输入、参数更新、分布式保存、模型交付和最终推理。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59892" y="3978592"/>
            <a:ext cx="3340608" cy="1289114"/>
            <a:chOff x="659892" y="3978592"/>
            <a:chExt cx="3340608" cy="1289114"/>
          </a:xfrm>
        </p:grpSpPr>
        <p:sp>
          <p:nvSpPr>
            <p:cNvPr id="39" name="TextBox 39"/>
            <p:cNvSpPr txBox="1"/>
            <p:nvPr/>
          </p:nvSpPr>
          <p:spPr>
            <a:xfrm>
              <a:off x="659892" y="39785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825C"/>
                  </a:solidFill>
                  <a:latin typeface="Arial"/>
                  <a:ea typeface="Microsoft YaHei"/>
                  <a:cs typeface="Arial"/>
                </a:rPr>
                <a:t>训练侧证据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66750" y="42576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28575">
              <a:solidFill>
                <a:srgbClr val="3D825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0654" y="4442460"/>
              <a:ext cx="2226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Student 与 Critic loss 为有限值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0654" y="4737735"/>
              <a:ext cx="28579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两个 optimizer 均完成 backward 与 step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0654" y="5033010"/>
              <a:ext cx="2213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DCP checkpoint 能保存并恢复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422267" y="3978592"/>
            <a:ext cx="3340608" cy="1289114"/>
            <a:chOff x="4422267" y="3978592"/>
            <a:chExt cx="3340608" cy="1289114"/>
          </a:xfrm>
        </p:grpSpPr>
        <p:sp>
          <p:nvSpPr>
            <p:cNvPr id="45" name="TextBox 45"/>
            <p:cNvSpPr txBox="1"/>
            <p:nvPr/>
          </p:nvSpPr>
          <p:spPr>
            <a:xfrm>
              <a:off x="4422267" y="39785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6FA3"/>
                  </a:solidFill>
                  <a:latin typeface="Arial"/>
                  <a:ea typeface="Microsoft YaHei"/>
                  <a:cs typeface="Arial"/>
                </a:rPr>
                <a:t>产物侧证据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429125" y="42576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28575">
              <a:solidFill>
                <a:srgbClr val="2F6FA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23029" y="4442460"/>
              <a:ext cx="2455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训练状态转换为独立 Student 目录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23029" y="473773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导出模型可以重新加载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423029" y="5033010"/>
              <a:ext cx="27422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Qwen3-VL 与 Transformer dtype 一致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089392" y="3978592"/>
            <a:ext cx="3340608" cy="1289114"/>
            <a:chOff x="8089392" y="3978592"/>
            <a:chExt cx="3340608" cy="1289114"/>
          </a:xfrm>
        </p:grpSpPr>
        <p:sp>
          <p:nvSpPr>
            <p:cNvPr id="51" name="TextBox 51"/>
            <p:cNvSpPr txBox="1"/>
            <p:nvPr/>
          </p:nvSpPr>
          <p:spPr>
            <a:xfrm>
              <a:off x="8089392" y="39785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推理侧证据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8096250" y="42576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28575">
              <a:solidFill>
                <a:srgbClr val="C7000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090154" y="4442460"/>
              <a:ext cx="27572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严格执行四次 H3 Transformer forward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90154" y="473773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同时生成可用的视频与立体声音频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90154" y="5033010"/>
              <a:ext cx="2525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0252B"/>
                  </a:solidFill>
                  <a:latin typeface="Arial"/>
                  <a:ea typeface="Microsoft YaHei"/>
                  <a:cs typeface="Arial"/>
                </a:rPr>
                <a:t>同 prompt、seed、尺寸对比原模型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66750" y="5572125"/>
            <a:ext cx="10763250" cy="666750"/>
            <a:chOff x="666750" y="5572125"/>
            <a:chExt cx="10763250" cy="666750"/>
          </a:xfrm>
        </p:grpSpPr>
        <p:sp>
          <p:nvSpPr>
            <p:cNvPr id="57" name="Rectangle 57"/>
            <p:cNvSpPr/>
            <p:nvPr/>
          </p:nvSpPr>
          <p:spPr>
            <a:xfrm>
              <a:off x="666750" y="5572125"/>
              <a:ext cx="10763250" cy="66675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05637" y="5690711"/>
              <a:ext cx="898892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当前能力：在 8×910B 上，从 Base H3 训练并交付可独立推理的 Dense 四步 Student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8685" y="6003131"/>
              <a:ext cx="62761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工程验收终点是独立 Student 的严格四步视频音频输出，而不是日志中的 training completed。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70941" y="6468428"/>
            <a:ext cx="10750182" cy="205359"/>
            <a:chOff x="670941" y="6468428"/>
            <a:chExt cx="10750182" cy="205359"/>
          </a:xfrm>
        </p:grpSpPr>
        <p:sp>
          <p:nvSpPr>
            <p:cNvPr id="61" name="TextBox 61"/>
            <p:cNvSpPr txBox="1"/>
            <p:nvPr/>
          </p:nvSpPr>
          <p:spPr>
            <a:xfrm>
              <a:off x="670941" y="6468428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26B73"/>
                  </a:solidFill>
                  <a:latin typeface="Arial"/>
                  <a:ea typeface="Microsoft YaHei"/>
                  <a:cs typeface="Arial"/>
                </a:rPr>
                <a:t>训练、保存、导出、重载、严格四步推理已经形成同一套可复用流程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53216" y="6468428"/>
              <a:ext cx="167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26B73"/>
                  </a:solidFill>
                  <a:latin typeface="Arial"/>
                  <a:ea typeface="Arial"/>
                  <a:cs typeface="Arial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md2_h3_logic_rebuild">
  <a:themeElements>
    <a:clrScheme name="dmd2_h3_logic_rebuild">
      <a:dk1>
        <a:srgbClr val="20252B"/>
      </a:dk1>
      <a:lt1>
        <a:srgbClr val="F7F5F0"/>
      </a:lt1>
      <a:dk2>
        <a:srgbClr val="1F497D"/>
      </a:dk2>
      <a:lt2>
        <a:srgbClr val="EDEDEA"/>
      </a:lt2>
      <a:accent1>
        <a:srgbClr val="C7000B"/>
      </a:accent1>
      <a:accent2>
        <a:srgbClr val="2F6FA3"/>
      </a:accent2>
      <a:accent3>
        <a:srgbClr val="3D825C"/>
      </a:accent3>
      <a:accent4>
        <a:srgbClr val="C7000B"/>
      </a:accent4>
      <a:accent5>
        <a:srgbClr val="626B73"/>
      </a:accent5>
      <a:accent6>
        <a:srgbClr val="BBC2C7"/>
      </a:accent6>
      <a:hlink>
        <a:srgbClr val="2F6FA3"/>
      </a:hlink>
      <a:folHlink>
        <a:srgbClr val="3D825C"/>
      </a:folHlink>
    </a:clrScheme>
    <a:fontScheme name="dmd2_h3_logic_rebuil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d2_h3_logic_rebuil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md2_h3_logic_rebuild">
  <a:themeElements>
    <a:clrScheme name="dmd2_h3_logic_rebuild">
      <a:dk1>
        <a:srgbClr val="20252B"/>
      </a:dk1>
      <a:lt1>
        <a:srgbClr val="F7F5F0"/>
      </a:lt1>
      <a:dk2>
        <a:srgbClr val="1F497D"/>
      </a:dk2>
      <a:lt2>
        <a:srgbClr val="EDEDEA"/>
      </a:lt2>
      <a:accent1>
        <a:srgbClr val="C7000B"/>
      </a:accent1>
      <a:accent2>
        <a:srgbClr val="2F6FA3"/>
      </a:accent2>
      <a:accent3>
        <a:srgbClr val="3D825C"/>
      </a:accent3>
      <a:accent4>
        <a:srgbClr val="C7000B"/>
      </a:accent4>
      <a:accent5>
        <a:srgbClr val="626B73"/>
      </a:accent5>
      <a:accent6>
        <a:srgbClr val="BBC2C7"/>
      </a:accent6>
      <a:hlink>
        <a:srgbClr val="2F6FA3"/>
      </a:hlink>
      <a:folHlink>
        <a:srgbClr val="3D825C"/>
      </a:folHlink>
    </a:clrScheme>
    <a:fontScheme name="dmd2_h3_logic_rebuil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d2_h3_logic_rebuil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2026-09-08T14:42:57Z</dcterms:created>
  <dcterms:modified xsi:type="dcterms:W3CDTF">2026-09-08T14:42:57Z</dcterms:modified>
  <cp:category/>
  <cp:contentStatus/>
</cp:coreProperties>
</file>